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b9bb712964802" /><Relationship Type="http://schemas.openxmlformats.org/officeDocument/2006/relationships/extended-properties" Target="/docProps/app.xml" Id="R36b9c8c7a3ec4937" /><Relationship Type="http://schemas.openxmlformats.org/officeDocument/2006/relationships/officeDocument" Target="/ppt/presentation.xml" Id="R84af1b14cb1941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21d0ad1844e5a"/>
  </p:sldMasterIdLst>
  <p:notesMasterIdLst>
    <p:notesMasterId xmlns:r="http://schemas.openxmlformats.org/officeDocument/2006/relationships" r:id="Ra0de21b16c65439b"/>
  </p:notesMasterIdLst>
  <p:sldIdLst>
    <p:sldId xmlns:r="http://schemas.openxmlformats.org/officeDocument/2006/relationships" id="256" r:id="Raf1ad37baaad4be4"/>
    <p:sldId xmlns:r="http://schemas.openxmlformats.org/officeDocument/2006/relationships" id="257" r:id="R39ded8813b08486c"/>
    <p:sldId xmlns:r="http://schemas.openxmlformats.org/officeDocument/2006/relationships" id="258" r:id="R7afb9e4d2e024801"/>
    <p:sldId xmlns:r="http://schemas.openxmlformats.org/officeDocument/2006/relationships" id="259" r:id="R52d7f1a02cce4962"/>
    <p:sldId xmlns:r="http://schemas.openxmlformats.org/officeDocument/2006/relationships" id="260" r:id="R0ceff351ac1b4959"/>
    <p:sldId xmlns:r="http://schemas.openxmlformats.org/officeDocument/2006/relationships" id="261" r:id="R6db0b3562d024ea1"/>
    <p:sldId xmlns:r="http://schemas.openxmlformats.org/officeDocument/2006/relationships" id="262" r:id="Ra78045dedac845dc"/>
    <p:sldId xmlns:r="http://schemas.openxmlformats.org/officeDocument/2006/relationships" id="263" r:id="Re2c5623281bc4a01"/>
    <p:sldId xmlns:r="http://schemas.openxmlformats.org/officeDocument/2006/relationships" id="264" r:id="Rd3107eca98a04ab5"/>
    <p:sldId xmlns:r="http://schemas.openxmlformats.org/officeDocument/2006/relationships" id="265" r:id="R0f998e20a76643bb"/>
    <p:sldId xmlns:r="http://schemas.openxmlformats.org/officeDocument/2006/relationships" id="266" r:id="R03a32b54f7914cf3"/>
    <p:sldId xmlns:r="http://schemas.openxmlformats.org/officeDocument/2006/relationships" id="267" r:id="R7678fe4f9f674562"/>
    <p:sldId xmlns:r="http://schemas.openxmlformats.org/officeDocument/2006/relationships" id="268" r:id="R2670fe3f873047f5"/>
    <p:sldId xmlns:r="http://schemas.openxmlformats.org/officeDocument/2006/relationships" id="269" r:id="Rae7af11d8e914c4e"/>
    <p:sldId xmlns:r="http://schemas.openxmlformats.org/officeDocument/2006/relationships" id="270" r:id="Rbd533789ae934f32"/>
    <p:sldId xmlns:r="http://schemas.openxmlformats.org/officeDocument/2006/relationships" id="271" r:id="Rb18ab872df4343bf"/>
    <p:sldId xmlns:r="http://schemas.openxmlformats.org/officeDocument/2006/relationships" id="272" r:id="R28cd6a4ea63845cd"/>
    <p:sldId xmlns:r="http://schemas.openxmlformats.org/officeDocument/2006/relationships" id="273" r:id="R984e8851ca7a40d8"/>
    <p:sldId xmlns:r="http://schemas.openxmlformats.org/officeDocument/2006/relationships" id="274" r:id="R7ad9a0719ec0440a"/>
    <p:sldId xmlns:r="http://schemas.openxmlformats.org/officeDocument/2006/relationships" id="275" r:id="R0b5e737dc7e748ce"/>
    <p:sldId xmlns:r="http://schemas.openxmlformats.org/officeDocument/2006/relationships" id="276" r:id="Rda9eb08a7ad044c4"/>
    <p:sldId xmlns:r="http://schemas.openxmlformats.org/officeDocument/2006/relationships" id="277" r:id="R18457a013ad54e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459c60dadf4abd" /><Relationship Type="http://schemas.openxmlformats.org/officeDocument/2006/relationships/slideMaster" Target="/ppt/slideMasters/slideMaster1.xml" Id="Ra3121d0ad1844e5a" /><Relationship Type="http://schemas.openxmlformats.org/officeDocument/2006/relationships/notesMaster" Target="/ppt/notesMasters/notesMaster1.xml" Id="Ra0de21b16c65439b" /><Relationship Type="http://schemas.openxmlformats.org/officeDocument/2006/relationships/presProps" Target="/ppt/presProps.xml" Id="R6cbd0f45e6c04672" /><Relationship Type="http://schemas.openxmlformats.org/officeDocument/2006/relationships/tableStyles" Target="/ppt/tableStyles.xml" Id="R200e72295e294d08" /><Relationship Type="http://schemas.openxmlformats.org/officeDocument/2006/relationships/slide" Target="/ppt/slides/slide1.xml" Id="Raf1ad37baaad4be4" /><Relationship Type="http://schemas.openxmlformats.org/officeDocument/2006/relationships/slide" Target="/ppt/slides/slide2.xml" Id="R39ded8813b08486c" /><Relationship Type="http://schemas.openxmlformats.org/officeDocument/2006/relationships/slide" Target="/ppt/slides/slide3.xml" Id="R7afb9e4d2e024801" /><Relationship Type="http://schemas.openxmlformats.org/officeDocument/2006/relationships/slide" Target="/ppt/slides/slide4.xml" Id="R52d7f1a02cce4962" /><Relationship Type="http://schemas.openxmlformats.org/officeDocument/2006/relationships/slide" Target="/ppt/slides/slide5.xml" Id="R0ceff351ac1b4959" /><Relationship Type="http://schemas.openxmlformats.org/officeDocument/2006/relationships/slide" Target="/ppt/slides/slide6.xml" Id="R6db0b3562d024ea1" /><Relationship Type="http://schemas.openxmlformats.org/officeDocument/2006/relationships/slide" Target="/ppt/slides/slide7.xml" Id="Ra78045dedac845dc" /><Relationship Type="http://schemas.openxmlformats.org/officeDocument/2006/relationships/slide" Target="/ppt/slides/slide8.xml" Id="Re2c5623281bc4a01" /><Relationship Type="http://schemas.openxmlformats.org/officeDocument/2006/relationships/slide" Target="/ppt/slides/slide9.xml" Id="Rd3107eca98a04ab5" /><Relationship Type="http://schemas.openxmlformats.org/officeDocument/2006/relationships/slide" Target="/ppt/slides/slide10.xml" Id="R0f998e20a76643bb" /><Relationship Type="http://schemas.openxmlformats.org/officeDocument/2006/relationships/slide" Target="/ppt/slides/slide11.xml" Id="R03a32b54f7914cf3" /><Relationship Type="http://schemas.openxmlformats.org/officeDocument/2006/relationships/slide" Target="/ppt/slides/slide12.xml" Id="R7678fe4f9f674562" /><Relationship Type="http://schemas.openxmlformats.org/officeDocument/2006/relationships/slide" Target="/ppt/slides/slide13.xml" Id="R2670fe3f873047f5" /><Relationship Type="http://schemas.openxmlformats.org/officeDocument/2006/relationships/slide" Target="/ppt/slides/slide14.xml" Id="Rae7af11d8e914c4e" /><Relationship Type="http://schemas.openxmlformats.org/officeDocument/2006/relationships/slide" Target="/ppt/slides/slide15.xml" Id="Rbd533789ae934f32" /><Relationship Type="http://schemas.openxmlformats.org/officeDocument/2006/relationships/slide" Target="/ppt/slides/slide16.xml" Id="Rb18ab872df4343bf" /><Relationship Type="http://schemas.openxmlformats.org/officeDocument/2006/relationships/slide" Target="/ppt/slides/slide17.xml" Id="R28cd6a4ea63845cd" /><Relationship Type="http://schemas.openxmlformats.org/officeDocument/2006/relationships/slide" Target="/ppt/slides/slide18.xml" Id="R984e8851ca7a40d8" /><Relationship Type="http://schemas.openxmlformats.org/officeDocument/2006/relationships/slide" Target="/ppt/slides/slide19.xml" Id="R7ad9a0719ec0440a" /><Relationship Type="http://schemas.openxmlformats.org/officeDocument/2006/relationships/slide" Target="/ppt/slides/slide20.xml" Id="R0b5e737dc7e748ce" /><Relationship Type="http://schemas.openxmlformats.org/officeDocument/2006/relationships/slide" Target="/ppt/slides/slide21.xml" Id="Rda9eb08a7ad044c4" /><Relationship Type="http://schemas.openxmlformats.org/officeDocument/2006/relationships/slide" Target="/ppt/slides/slide22.xml" Id="R18457a013ad54e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306260c4ab42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6553525acc454f" /><Relationship Type="http://schemas.openxmlformats.org/officeDocument/2006/relationships/notesMaster" Target="/ppt/notesMasters/notesMaster1.xml" Id="Re17ccef3578f4f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d01e1578894f18" /><Relationship Type="http://schemas.openxmlformats.org/officeDocument/2006/relationships/notesMaster" Target="/ppt/notesMasters/notesMaster1.xml" Id="R74e026496ed34e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c8eaf62cc9422b" /><Relationship Type="http://schemas.openxmlformats.org/officeDocument/2006/relationships/notesMaster" Target="/ppt/notesMasters/notesMaster1.xml" Id="R1a4186def07c4f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ec9df567ac4ba6" /><Relationship Type="http://schemas.openxmlformats.org/officeDocument/2006/relationships/notesMaster" Target="/ppt/notesMasters/notesMaster1.xml" Id="R2cd377feefbd42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26cb53fe14521" /><Relationship Type="http://schemas.openxmlformats.org/officeDocument/2006/relationships/notesMaster" Target="/ppt/notesMasters/notesMaster1.xml" Id="R628ea0e42d9645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a9dc6187324f28" /><Relationship Type="http://schemas.openxmlformats.org/officeDocument/2006/relationships/notesMaster" Target="/ppt/notesMasters/notesMaster1.xml" Id="R5dbb7993660544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d6b829d0884c9c" /><Relationship Type="http://schemas.openxmlformats.org/officeDocument/2006/relationships/notesMaster" Target="/ppt/notesMasters/notesMaster1.xml" Id="R0032f7c22e8440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5600b241ee4959" /><Relationship Type="http://schemas.openxmlformats.org/officeDocument/2006/relationships/notesMaster" Target="/ppt/notesMasters/notesMaster1.xml" Id="Rc8fbe40c899041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779df6ef66496e" /><Relationship Type="http://schemas.openxmlformats.org/officeDocument/2006/relationships/notesMaster" Target="/ppt/notesMasters/notesMaster1.xml" Id="R5ff82a5b47a044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b742befe6e4b0d" /><Relationship Type="http://schemas.openxmlformats.org/officeDocument/2006/relationships/notesMaster" Target="/ppt/notesMasters/notesMaster1.xml" Id="R3ffe4b118ea144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aff342dba74544" /><Relationship Type="http://schemas.openxmlformats.org/officeDocument/2006/relationships/notesMaster" Target="/ppt/notesMasters/notesMaster1.xml" Id="Rce9ded8f36ac49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50f3d484dc4784" /><Relationship Type="http://schemas.openxmlformats.org/officeDocument/2006/relationships/notesMaster" Target="/ppt/notesMasters/notesMaster1.xml" Id="R430c88b8f28240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b06f7a27094f3b" /><Relationship Type="http://schemas.openxmlformats.org/officeDocument/2006/relationships/notesMaster" Target="/ppt/notesMasters/notesMaster1.xml" Id="Rd69b51dc993946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23f5216edc4c0d" /><Relationship Type="http://schemas.openxmlformats.org/officeDocument/2006/relationships/notesMaster" Target="/ppt/notesMasters/notesMaster1.xml" Id="Rea4c889b9e9040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932dc71fab43bc" /><Relationship Type="http://schemas.openxmlformats.org/officeDocument/2006/relationships/notesMaster" Target="/ppt/notesMasters/notesMaster1.xml" Id="R26313b98d6e44b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39157aab92498f" /><Relationship Type="http://schemas.openxmlformats.org/officeDocument/2006/relationships/notesMaster" Target="/ppt/notesMasters/notesMaster1.xml" Id="R2fb3666f640742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5d3f40b7934def" /><Relationship Type="http://schemas.openxmlformats.org/officeDocument/2006/relationships/notesMaster" Target="/ppt/notesMasters/notesMaster1.xml" Id="R9979bb52135b49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aed108b8544e5b" /><Relationship Type="http://schemas.openxmlformats.org/officeDocument/2006/relationships/notesMaster" Target="/ppt/notesMasters/notesMaster1.xml" Id="Rf0066a2c4b4840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9e7e6feecc4d14" /><Relationship Type="http://schemas.openxmlformats.org/officeDocument/2006/relationships/notesMaster" Target="/ppt/notesMasters/notesMaster1.xml" Id="R37fd4c73277348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3b44dbdf0b4530" /><Relationship Type="http://schemas.openxmlformats.org/officeDocument/2006/relationships/notesMaster" Target="/ppt/notesMasters/notesMaster1.xml" Id="R1e60a72eb6b247b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4a46821b1224e0e" /><Relationship Type="http://schemas.openxmlformats.org/officeDocument/2006/relationships/notesMaster" Target="/ppt/notesMasters/notesMaster1.xml" Id="R3d9aea7fd21243c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65e24364d54596" /><Relationship Type="http://schemas.openxmlformats.org/officeDocument/2006/relationships/notesMaster" Target="/ppt/notesMasters/notesMaster1.xml" Id="R91ee46489b5d46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93ccdc93c40e4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d7f54f64bd4443" /><Relationship Type="http://schemas.openxmlformats.org/officeDocument/2006/relationships/slideLayout" Target="/ppt/slideLayouts/slideLayout1.xml" Id="Rbca5c3dc4d24425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5c3dc4d24425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ab7e027c044c0" /><Relationship Type="http://schemas.openxmlformats.org/officeDocument/2006/relationships/notesSlide" Target="/ppt/notesSlides/notesSlide1.xml" Id="R9a5bd1584fe84d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4aebde47e48fa" /><Relationship Type="http://schemas.openxmlformats.org/officeDocument/2006/relationships/notesSlide" Target="/ppt/notesSlides/notesSlide2.xml" Id="R0e09a0bb55fc41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6d27453924f27" /><Relationship Type="http://schemas.openxmlformats.org/officeDocument/2006/relationships/notesSlide" Target="/ppt/notesSlides/notesSlide3.xml" Id="R40f06ee488a244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eb459e8654094" /><Relationship Type="http://schemas.openxmlformats.org/officeDocument/2006/relationships/notesSlide" Target="/ppt/notesSlides/notesSlide4.xml" Id="R591e539ab69d40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ded08316a4b9d" /><Relationship Type="http://schemas.openxmlformats.org/officeDocument/2006/relationships/notesSlide" Target="/ppt/notesSlides/notesSlide5.xml" Id="R76defa81e9d145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3c88cfb2549ba" /><Relationship Type="http://schemas.openxmlformats.org/officeDocument/2006/relationships/notesSlide" Target="/ppt/notesSlides/notesSlide6.xml" Id="Rec6fafb985b342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fad31ef314162" /><Relationship Type="http://schemas.openxmlformats.org/officeDocument/2006/relationships/notesSlide" Target="/ppt/notesSlides/notesSlide7.xml" Id="R77150851ae3d46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f6f0f30ee4428" /><Relationship Type="http://schemas.openxmlformats.org/officeDocument/2006/relationships/notesSlide" Target="/ppt/notesSlides/notesSlide8.xml" Id="R59679889def34b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43281688d48ec" /><Relationship Type="http://schemas.openxmlformats.org/officeDocument/2006/relationships/notesSlide" Target="/ppt/notesSlides/notesSlide9.xml" Id="R8a9f7cfcfe3645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0c47a644f4a12" /><Relationship Type="http://schemas.openxmlformats.org/officeDocument/2006/relationships/notesSlide" Target="/ppt/notesSlides/notesSlide10.xml" Id="R31cd21287e5243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003e77c9c415a" /><Relationship Type="http://schemas.openxmlformats.org/officeDocument/2006/relationships/notesSlide" Target="/ppt/notesSlides/notesSlide11.xml" Id="R921ed8d5dd9748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6cf9c71b540fa" /><Relationship Type="http://schemas.openxmlformats.org/officeDocument/2006/relationships/notesSlide" Target="/ppt/notesSlides/notesSlide12.xml" Id="R4e80298e0a1c4a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3ea07610b480d" /><Relationship Type="http://schemas.openxmlformats.org/officeDocument/2006/relationships/notesSlide" Target="/ppt/notesSlides/notesSlide13.xml" Id="Rd2c4e1efc9cf48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3105c22224804" /><Relationship Type="http://schemas.openxmlformats.org/officeDocument/2006/relationships/notesSlide" Target="/ppt/notesSlides/notesSlide14.xml" Id="Ra506dccc2c9849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c016c50ab4c32" /><Relationship Type="http://schemas.openxmlformats.org/officeDocument/2006/relationships/notesSlide" Target="/ppt/notesSlides/notesSlide15.xml" Id="R833cc49652f44c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a0bf7bf744f38" /><Relationship Type="http://schemas.openxmlformats.org/officeDocument/2006/relationships/notesSlide" Target="/ppt/notesSlides/notesSlide16.xml" Id="R6a992e80bee242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795064eeb4921" /><Relationship Type="http://schemas.openxmlformats.org/officeDocument/2006/relationships/notesSlide" Target="/ppt/notesSlides/notesSlide17.xml" Id="R554f83a3930348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baf2788f943e9" /><Relationship Type="http://schemas.openxmlformats.org/officeDocument/2006/relationships/notesSlide" Target="/ppt/notesSlides/notesSlide18.xml" Id="R4c924df4f6374e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957585f3f4920" /><Relationship Type="http://schemas.openxmlformats.org/officeDocument/2006/relationships/notesSlide" Target="/ppt/notesSlides/notesSlide19.xml" Id="R2546d588fd4245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fa65c17954730" /><Relationship Type="http://schemas.openxmlformats.org/officeDocument/2006/relationships/notesSlide" Target="/ppt/notesSlides/notesSlide20.xml" Id="R393bba1ea28d49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6f4b9fb5c41e5" /><Relationship Type="http://schemas.openxmlformats.org/officeDocument/2006/relationships/notesSlide" Target="/ppt/notesSlides/notesSlide21.xml" Id="Rc1e92230266746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949193ad146a5" /><Relationship Type="http://schemas.openxmlformats.org/officeDocument/2006/relationships/notesSlide" Target="/ppt/notesSlides/notesSlide22.xml" Id="Re8ad85be032542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314910C0-2D71-4F74-82B9-68906D3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OPENING · WHY WE PRACTICE</a:t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FABFFFDB-B82C-48CB-A6B5-C933241B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sz="3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Tennis Court Kitchen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54FBD067-C148-4CA6-AE1F-039D075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67512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12700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9F5C58EB-A0F8-4184-8BB0-CC309652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66160" y="3657600"/>
            <a:ext cx="640080" cy="73152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B331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F5CB8A62-D960-4FC7-AFB8-8E994A3E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2080"/>
            <a:ext cx="5943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C9C9C9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C9C9C9"/>
                </a:solidFill>
                <a:latin typeface="Calibri"/>
                <a:ea typeface="Calibri"/>
                <a:cs typeface="Calibri"/>
              </a:rPr>
              <a:t>Facilitator: open the approved clip cued separately (not embedded).</a:t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6F6E0372-9A44-48B5-939D-45D03586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148840"/>
            <a:ext cx="3502152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In The Founder, before a single burger is ever sold at scale, the team chalks out a full-size floor plan of the kitchen on a tennis court — every station, every counter, every step of the Speedee Service System.</a:t>
            </a:r>
          </a:p>
          <a:p xmlns:a="http://schemas.openxmlformats.org/drawingml/2006/main">
            <a:pPr marL="0" marR="0" indent="0" algn="l">
              <a:spcBef>
                <a:spcPts val="1400"/>
              </a:spcBef>
              <a:spcAft>
                <a:spcPts val="0"/>
              </a:spcAft>
              <a:buClr>
                <a:srgbClr val="E8E8E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They walk it. They time it. They run it again and again — with no customers watching — until the motion is second nature.</a:t>
            </a:r>
          </a:p>
          <a:p xmlns:a="http://schemas.openxmlformats.org/drawingml/2006/main">
            <a:pPr marL="0" marR="0" indent="0" algn="l">
              <a:spcBef>
                <a:spcPts val="1400"/>
              </a:spcBef>
              <a:spcAft>
                <a:spcPts val="0"/>
              </a:spcAft>
              <a:buClr>
                <a:srgbClr val="E8E8E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That's what today is. Every read-aloud, every partner practice, every script we say out loud in this room is our tennis court.</a:t>
            </a:r>
          </a:p>
          <a:p xmlns:a="http://schemas.openxmlformats.org/drawingml/2006/main">
            <a:pPr marL="0" marR="0" indent="0" algn="l">
              <a:spcBef>
                <a:spcPts val="1400"/>
              </a:spcBef>
              <a:spcAft>
                <a:spcPts val="0"/>
              </a:spcAft>
              <a:buClr>
                <a:srgbClr val="E8E8E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We get it right here, together, before a single student ever walks through the door.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2BBFA636-A922-4DAD-83F2-B951D5C4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645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792D6A0D-D074-4B6C-B4C6-162B082B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ALL-STAFF PD · CULTURE FOUNDATIONS</a:t>
            </a: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A76BCE8-687E-49EB-B1EB-5256A9F9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109728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sz="4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Schoolwide Systems &amp; Classroom Procedures</a:t>
            </a: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F3958B03-BA36-42E2-87D3-9740B4C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How every adult holds the same standard, everywhere in the building.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9CF24A7B-02C5-48E3-854D-7EC3AA41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89-minute session · Facilitator: Amanda Kayte · Foundation 3 of 5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DAF04943-61F7-4B3C-9BD4-06B7109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88007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440A7539-F419-490C-8170-ED66BFDB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45 MINUTES</a:t>
            </a:r>
          </a:p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BE43B063-8DA4-486F-956D-7138FD00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109728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sz="4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Schoolwide Systems &amp; Procedures</a:t>
            </a: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451ADCE2-96CD-4198-9CEF-86785EAB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Morning Meeting stays live year-round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Updated workshop cards: Morning Entry · Dismissal · Hallway · Restroom · Lunch · Recess · Refresher</a:t>
            </a: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8B9531E7-A766-4328-AA0B-0F023D7A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The same standard, held by every adult, building-wide.</a:t>
            </a: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A9BC0732-802A-4B25-846E-49ABAFE4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9527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8DD39892-094D-4E36-812B-A7315531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AGENDA AT A GLANCE</a:t>
            </a:r>
          </a:p>
        </p:txBody>
      </p:sp>
      <p:sp>
        <p:nvSpPr>
          <p:cNvPr id="49" name="Google Shape;49;p6">
            <a:extLst xmlns:a="http://schemas.openxmlformats.org/drawingml/2006/main">
              <a:ext uri="{FF2B5EF4-FFF2-40B4-BE49-F238E27FC236}">
                <a16:creationId xmlns:a16="http://schemas.microsoft.com/office/drawing/2014/main" id="{40E47A38-2053-411C-B914-5A002C0D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Seven Updated Schoolwide Procedures — 45 Minutes</a:t>
            </a:r>
          </a:p>
        </p:txBody>
      </p:sp>
      <p:sp>
        <p:nvSpPr>
          <p:cNvPr id="50" name="Google Shape;50;p6">
            <a:extLst xmlns:a="http://schemas.openxmlformats.org/drawingml/2006/main">
              <a:ext uri="{FF2B5EF4-FFF2-40B4-BE49-F238E27FC236}">
                <a16:creationId xmlns:a16="http://schemas.microsoft.com/office/drawing/2014/main" id="{C86AE85F-A487-4EDC-B0F3-C115B065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C559687E-B47D-4B67-B6C4-32C381D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9C262794-7A74-40FF-8653-2A21996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4 min</a:t>
            </a: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26E522DB-0AE9-4897-914C-ADE6D0B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476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Framing &amp; Purpose</a:t>
            </a: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499603E7-BC59-452A-9030-0C6B05E8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1236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Why school-wide, and how it's different from a classroom routine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8130CFF-B46E-4A48-8B31-3A09604D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17E85722-DE61-4607-B432-45853EEF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581318F3-53DC-4737-9441-C711CB4C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420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Document Anatomy</a:t>
            </a: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7871EC1B-CC3F-49C3-A3E2-B971F412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7179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The parts every procedure card follows</a:t>
            </a: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9973E132-3FA3-4CAA-AEF5-66D9C8C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8065BF51-4812-46EB-838E-D123D7AA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8 min</a:t>
            </a: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DDFEAC0E-7A50-4B71-A9E2-A461C674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13639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Walk the Full Set</a:t>
            </a: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99EE0211-4908-41D3-A002-87B8015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1232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 fast tour across all seven updated procedure cards</a:t>
            </a: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0BB4E296-36FA-458D-A38C-D5AE9270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F37DF367-7541-4ADA-9D6A-DCD2BAC2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10 min</a:t>
            </a: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36AC6345-6E44-4482-A7C3-DECE98A7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73075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&amp; Annotate</a:t>
            </a: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C522142F-4C91-4A10-AF39-60FF2641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0668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Deep dive on one procedure, individually</a:t>
            </a: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0E18564C-AB26-45C0-9196-77EC8272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539FF82F-6385-434D-AD75-1F2E16F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8 min</a:t>
            </a: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AF3921FF-3CF7-4A84-A4A0-B0968874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2511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Personalize &amp; Plan</a:t>
            </a: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946A895B-44D7-4D18-9EDB-7A84ABBE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0104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Choose the procedure you'll teach first</a:t>
            </a: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315DBDEE-4C45-4C69-A20B-35F799FD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09B41766-84CC-4EE0-9FB5-D12D3172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7 min</a:t>
            </a:r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0D8C2D09-2F70-4375-9CF6-2E89EFB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194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Practice</a:t>
            </a:r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C7DC45B4-5C27-42FD-A3B6-1FCB301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954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Partner practice reading a sample script aloud</a:t>
            </a: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57AFB2B1-A45F-4757-867E-48558C1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B0B36A12-F17E-4DEB-8D9B-94A7D224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3 min</a:t>
            </a: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F12B5CE3-3169-49F1-B1F6-C6D57FC0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5138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Close &amp; Commit</a:t>
            </a: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0223B465-EF44-4A39-AF07-4324A11C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6897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Name your first teach out loud</a:t>
            </a:r>
          </a:p>
        </p:txBody>
      </p:sp>
    </p:spTree>
    <p:extLst>
      <p:ext uri="{BB962C8B-B14F-4D97-AF65-F5344CB8AC3E}">
        <p14:creationId xmlns:p14="http://schemas.microsoft.com/office/powerpoint/2010/main" val="1874553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5578913A-45F9-4C18-9D43-54F93EC4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FRAMING</a:t>
            </a:r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1F3311E0-704D-445B-BED3-C08CC577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Schoolwide vs. Classroom Procedures</a:t>
            </a: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4F5D9CDE-D92C-4ED5-90D3-A941ACC9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9CBF04B1-D47C-4845-AEE8-17EDF90C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25780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FA302286-B7B0-4EFD-8F2A-6779B55D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470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SCHOOL-WIDE PROCEDURES</a:t>
            </a: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E8786558-D031-431F-A992-2125AD67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470916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specification IS the specification — building-wide, no per-room variation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 “Our Room’s Specifics” column — everyone holds the exact same standard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Covers spaces every adult shares: hallways, cafeteria, recess, restrooms, </a:t>
            </a: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Morning Entry and Dismissal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few calls are marked ✎ “Called for Now” — living, revisable, not permanent</a:t>
            </a: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870EAB36-E7D4-40E4-B1E2-E05EBFD9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0240"/>
            <a:ext cx="525780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802F1C75-8325-4171-8F40-8F7EC1C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48840"/>
            <a:ext cx="470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CLASSROOM PROCEDURES</a:t>
            </a: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2D43F728-F4A8-4C6F-8A82-78043366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51760"/>
            <a:ext cx="470916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shape is non-negotiable; the specifics are yours to set and hold all year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“Our Room’s Specifics” column exists for exactly this reason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Covers what happens inside your own four walls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Covered in Part 2 of today’s session</a:t>
            </a:r>
          </a:p>
        </p:txBody>
      </p:sp>
    </p:spTree>
    <p:extLst>
      <p:ext uri="{BB962C8B-B14F-4D97-AF65-F5344CB8AC3E}">
        <p14:creationId xmlns:p14="http://schemas.microsoft.com/office/powerpoint/2010/main" val="354758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630536F3-2715-447B-91DC-D8F5482B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DOCUMENT ANATOMY</a:t>
            </a: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2D70DC8C-C5AA-4EF4-91BA-84807338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Every Procedure Card Follows the Same Shape</a:t>
            </a:r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610844D2-2EB4-4354-9816-463A7DF0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597284EC-8421-4BC3-952F-01075B49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Rationale — the why behind the routine, in plain language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Routine — a Teacher/Adult Does ↔ Students Do table, phase by phase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Non-Negotiables — the parts that don’t flex, ever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Sample Teacher Language (WTD) — exact words you can use as-is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Teaching [Procedure]: Sample Script — a Day 1 SAY/DO teach, plus Days 2–5 reinforcement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✎ marks — a call made for now, open to revision if it doesn’t hold up in practice</a:t>
            </a:r>
          </a:p>
        </p:txBody>
      </p:sp>
    </p:spTree>
    <p:extLst>
      <p:ext uri="{BB962C8B-B14F-4D97-AF65-F5344CB8AC3E}">
        <p14:creationId xmlns:p14="http://schemas.microsoft.com/office/powerpoint/2010/main" val="552478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E4244C7A-E81B-4A71-BF37-35CD0801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THE FULL SET</a:t>
            </a:r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F0A3F83C-C4A4-434D-B430-C16D548D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Morning Meeting Stays Live; Seven Updated Cards</a:t>
            </a:r>
          </a:p>
        </p:txBody>
      </p:sp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A939B30B-FEB9-403F-912D-9C16BF3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B5944F90-6F9D-4457-9C74-4A0D0092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45D237A3-4C4B-40C9-81A6-EE0BA3E6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AM</a:t>
            </a: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8A1EDC10-E66A-4403-B715-E288B795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476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Morning Entry</a:t>
            </a: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FB215AEB-5277-4406-B9EC-FBDC8BD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1236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Door 2 through Enter, Store, Sit, Start</a:t>
            </a:r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20EBEAC9-7E3A-4840-84D9-67BCA0DD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B8C16899-06DE-4D3B-B4F4-D1DCBB7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All Day</a:t>
            </a:r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638D2CC5-F096-40F8-9225-9368A85C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420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Hallway Transitions</a:t>
            </a: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29F4C860-5DA7-412C-850C-4FDA9CA7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7179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Voice 0, line formation, Radar positioning</a:t>
            </a:r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70F710A0-0D47-4E70-BC9B-188A39AC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EB0988A1-C655-4B98-9665-FF656FA7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Daily</a:t>
            </a:r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DBB41641-E722-40FC-850C-59F7A30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13639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Restroom Procedures</a:t>
            </a:r>
          </a:p>
        </p:txBody>
      </p:sp>
      <p:sp>
        <p:nvSpPr>
          <p:cNvPr id="121" name="Google Shape;121;p9">
            <a:extLst xmlns:a="http://schemas.openxmlformats.org/drawingml/2006/main">
              <a:ext uri="{FF2B5EF4-FFF2-40B4-BE49-F238E27FC236}">
                <a16:creationId xmlns:a16="http://schemas.microsoft.com/office/drawing/2014/main" id="{681326DF-B597-4E57-892F-8B70B031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1232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Waiting posture, exact handwashing count</a:t>
            </a:r>
          </a:p>
        </p:txBody>
      </p:sp>
      <p:sp>
        <p:nvSpPr>
          <p:cNvPr id="122" name="Google Shape;122;p9">
            <a:extLst xmlns:a="http://schemas.openxmlformats.org/drawingml/2006/main">
              <a:ext uri="{FF2B5EF4-FFF2-40B4-BE49-F238E27FC236}">
                <a16:creationId xmlns:a16="http://schemas.microsoft.com/office/drawing/2014/main" id="{D1E45224-0658-43C4-8A76-A52ABD6E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" name="Google Shape;123;p9">
            <a:extLst xmlns:a="http://schemas.openxmlformats.org/drawingml/2006/main">
              <a:ext uri="{FF2B5EF4-FFF2-40B4-BE49-F238E27FC236}">
                <a16:creationId xmlns:a16="http://schemas.microsoft.com/office/drawing/2014/main" id="{32913740-659A-4C21-A695-7AFB5355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Daily</a:t>
            </a:r>
          </a:p>
        </p:txBody>
      </p:sp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8541C46A-997C-429E-B12F-CA15F1D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73075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Lunch Expectations</a:t>
            </a:r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30385CB7-C071-4E9F-A618-B3BA9770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0668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Table-by-table dismissal, fixed adult positioning</a:t>
            </a: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E65FED98-B058-4431-A52C-05599A6B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2EEB7E4D-897D-4434-9F08-71C5CE8C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Daily</a:t>
            </a: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CB103FB6-BD0A-4DDB-8793-29DC654D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2511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Recess Expectations</a:t>
            </a:r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EC7807EE-81E4-4261-8C52-0497746B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0104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Boundaries, peer repair, the recall signal</a:t>
            </a: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CAAB3DEE-D129-40DF-9E9B-5A3D754F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BBF5CEF4-AF1D-4B8E-AFBB-EEF35742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PM</a:t>
            </a:r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229DA606-7FD6-4729-A8BC-6B22B75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194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Dismissal</a:t>
            </a:r>
          </a:p>
        </p:txBody>
      </p:sp>
      <p:sp>
        <p:nvSpPr>
          <p:cNvPr id="133" name="Google Shape;133;p9">
            <a:extLst xmlns:a="http://schemas.openxmlformats.org/drawingml/2006/main">
              <a:ext uri="{FF2B5EF4-FFF2-40B4-BE49-F238E27FC236}">
                <a16:creationId xmlns:a16="http://schemas.microsoft.com/office/drawing/2014/main" id="{9FA3D33D-E675-43C9-9B40-C4660EB8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954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Staggered, no lining up, table-by-table</a:t>
            </a:r>
          </a:p>
        </p:txBody>
      </p:sp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12F94CC6-BFE5-4CA1-ABDD-9A5404EB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71615071-A098-4DDB-9670-C0CCDBA7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All Day</a:t>
            </a: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9BFB5A19-35B4-46F3-9FF7-72BE6C0D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5138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Refresher</a:t>
            </a:r>
          </a:p>
        </p:txBody>
      </p:sp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4D86C749-FABB-4C9C-94FE-54CA37A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6897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Dress code, cell phones, backpacks, hall passes</a:t>
            </a:r>
          </a:p>
        </p:txBody>
      </p:sp>
    </p:spTree>
    <p:extLst>
      <p:ext uri="{BB962C8B-B14F-4D97-AF65-F5344CB8AC3E}">
        <p14:creationId xmlns:p14="http://schemas.microsoft.com/office/powerpoint/2010/main" val="1662133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10">
            <a:extLst xmlns:a="http://schemas.openxmlformats.org/drawingml/2006/main">
              <a:ext uri="{FF2B5EF4-FFF2-40B4-BE49-F238E27FC236}">
                <a16:creationId xmlns:a16="http://schemas.microsoft.com/office/drawing/2014/main" id="{2B9298D8-3569-4338-9BFD-9B0939A8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READ &amp; ANNOTATE (10 MIN, SILENT)</a:t>
            </a:r>
          </a:p>
        </p:txBody>
      </p:sp>
      <p:sp>
        <p:nvSpPr>
          <p:cNvPr id="144" name="Google Shape;144;p10">
            <a:extLst xmlns:a="http://schemas.openxmlformats.org/drawingml/2006/main">
              <a:ext uri="{FF2B5EF4-FFF2-40B4-BE49-F238E27FC236}">
                <a16:creationId xmlns:a16="http://schemas.microsoft.com/office/drawing/2014/main" id="{E28FE76B-9338-41CD-9BC3-CAEDF200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Choose One Procedure to Read Deeply</a:t>
            </a:r>
          </a:p>
        </p:txBody>
      </p:sp>
      <p:sp>
        <p:nvSpPr>
          <p:cNvPr id="145" name="Google Shape;145;p10">
            <a:extLst xmlns:a="http://schemas.openxmlformats.org/drawingml/2006/main">
              <a:ext uri="{FF2B5EF4-FFF2-40B4-BE49-F238E27FC236}">
                <a16:creationId xmlns:a16="http://schemas.microsoft.com/office/drawing/2014/main" id="{DB79E9C0-EFA9-488B-B2A2-B58EE0A6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46" name="Google Shape;146;p10">
            <a:extLst xmlns:a="http://schemas.openxmlformats.org/drawingml/2006/main">
              <a:ext uri="{FF2B5EF4-FFF2-40B4-BE49-F238E27FC236}">
                <a16:creationId xmlns:a16="http://schemas.microsoft.com/office/drawing/2014/main" id="{18FC70D4-2BFC-4BCD-BB0B-7A0E3FB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Pick the procedure that touches your day first — for most of you, that's Morning Entry or Hallway Transitions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the full card: Rationale, Routine table, Non-Negotiables, WTD language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Underline or star anything you're not yet holding exactly as written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Flag any ✎ “Called for Now” marks that don't match what you're seeing in practice</a:t>
            </a:r>
          </a:p>
        </p:txBody>
      </p:sp>
    </p:spTree>
    <p:extLst>
      <p:ext uri="{BB962C8B-B14F-4D97-AF65-F5344CB8AC3E}">
        <p14:creationId xmlns:p14="http://schemas.microsoft.com/office/powerpoint/2010/main" val="403321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11">
            <a:extLst xmlns:a="http://schemas.openxmlformats.org/drawingml/2006/main">
              <a:ext uri="{FF2B5EF4-FFF2-40B4-BE49-F238E27FC236}">
                <a16:creationId xmlns:a16="http://schemas.microsoft.com/office/drawing/2014/main" id="{3613B67E-3DAD-4192-8767-BFDC0F7D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PERSONALIZE &amp; PLAN (8 MIN)</a:t>
            </a:r>
          </a:p>
        </p:txBody>
      </p:sp>
      <p:sp>
        <p:nvSpPr>
          <p:cNvPr id="153" name="Google Shape;153;p11">
            <a:extLst xmlns:a="http://schemas.openxmlformats.org/drawingml/2006/main">
              <a:ext uri="{FF2B5EF4-FFF2-40B4-BE49-F238E27FC236}">
                <a16:creationId xmlns:a16="http://schemas.microsoft.com/office/drawing/2014/main" id="{DAB6F74A-9432-414D-B35F-31528A85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Choose Your First Teach</a:t>
            </a:r>
          </a:p>
        </p:txBody>
      </p:sp>
      <p:sp>
        <p:nvSpPr>
          <p:cNvPr id="154" name="Google Shape;154;p11">
            <a:extLst xmlns:a="http://schemas.openxmlformats.org/drawingml/2006/main">
              <a:ext uri="{FF2B5EF4-FFF2-40B4-BE49-F238E27FC236}">
                <a16:creationId xmlns:a16="http://schemas.microsoft.com/office/drawing/2014/main" id="{69CF11F3-F8CA-4BDB-8318-1A2F52FA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55" name="Google Shape;155;p11">
            <a:extLst xmlns:a="http://schemas.openxmlformats.org/drawingml/2006/main">
              <a:ext uri="{FF2B5EF4-FFF2-40B4-BE49-F238E27FC236}">
                <a16:creationId xmlns:a16="http://schemas.microsoft.com/office/drawing/2014/main" id="{AAF7431D-5A75-4470-912D-02DA122A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Turn to the “Teaching [Procedure]: Sample Script” page for the one you read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This is a sample — not a script to read verbatim. Add your own words, your own examples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Sketch your own Day 1: what will you actually say for Hook &amp; Purpose, and for each Model step?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Decide what “Days 2–5: Reinforcing the Routine” looks like in your specific space</a:t>
            </a:r>
          </a:p>
        </p:txBody>
      </p:sp>
    </p:spTree>
    <p:extLst>
      <p:ext uri="{BB962C8B-B14F-4D97-AF65-F5344CB8AC3E}">
        <p14:creationId xmlns:p14="http://schemas.microsoft.com/office/powerpoint/2010/main" val="617156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12">
            <a:extLst xmlns:a="http://schemas.openxmlformats.org/drawingml/2006/main">
              <a:ext uri="{FF2B5EF4-FFF2-40B4-BE49-F238E27FC236}">
                <a16:creationId xmlns:a16="http://schemas.microsoft.com/office/drawing/2014/main" id="{86BAAAA2-2965-4868-8AB6-DB9B7AC8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PRACTICE (7 MIN)</a:t>
            </a:r>
          </a:p>
        </p:txBody>
      </p:sp>
      <p:sp>
        <p:nvSpPr>
          <p:cNvPr id="162" name="Google Shape;162;p12">
            <a:extLst xmlns:a="http://schemas.openxmlformats.org/drawingml/2006/main">
              <a:ext uri="{FF2B5EF4-FFF2-40B4-BE49-F238E27FC236}">
                <a16:creationId xmlns:a16="http://schemas.microsoft.com/office/drawing/2014/main" id="{107065C7-A362-400C-91E3-7FCD5AD2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Partner Practice — Read It Out Loud</a:t>
            </a:r>
          </a:p>
        </p:txBody>
      </p:sp>
      <p:sp>
        <p:nvSpPr>
          <p:cNvPr id="163" name="Google Shape;163;p12">
            <a:extLst xmlns:a="http://schemas.openxmlformats.org/drawingml/2006/main">
              <a:ext uri="{FF2B5EF4-FFF2-40B4-BE49-F238E27FC236}">
                <a16:creationId xmlns:a16="http://schemas.microsoft.com/office/drawing/2014/main" id="{5C92336C-5B3B-492B-8843-E82E4396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64" name="Google Shape;164;p12">
            <a:extLst xmlns:a="http://schemas.openxmlformats.org/drawingml/2006/main">
              <a:ext uri="{FF2B5EF4-FFF2-40B4-BE49-F238E27FC236}">
                <a16:creationId xmlns:a16="http://schemas.microsoft.com/office/drawing/2014/main" id="{469BF006-89CF-4BE7-A19B-1CD58EF5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Pair up with a partner teaching a similar age band or space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Take turns reading your Day 1 script aloud, in your own words, out loud in the room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Partner listens for: is the language calm, clear, and Strong Voice — not over-explained?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 time to practice both? One volunteer reads theirs cold to the whole room instead</a:t>
            </a:r>
          </a:p>
        </p:txBody>
      </p:sp>
    </p:spTree>
    <p:extLst>
      <p:ext uri="{BB962C8B-B14F-4D97-AF65-F5344CB8AC3E}">
        <p14:creationId xmlns:p14="http://schemas.microsoft.com/office/powerpoint/2010/main" val="2034011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13">
            <a:extLst xmlns:a="http://schemas.openxmlformats.org/drawingml/2006/main">
              <a:ext uri="{FF2B5EF4-FFF2-40B4-BE49-F238E27FC236}">
                <a16:creationId xmlns:a16="http://schemas.microsoft.com/office/drawing/2014/main" id="{08D7A613-8584-4556-A98D-DBB1D60C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CLOSE &amp; COMMIT</a:t>
            </a:r>
          </a:p>
        </p:txBody>
      </p:sp>
      <p:sp>
        <p:nvSpPr>
          <p:cNvPr id="171" name="Google Shape;171;p13">
            <a:extLst xmlns:a="http://schemas.openxmlformats.org/drawingml/2006/main">
              <a:ext uri="{FF2B5EF4-FFF2-40B4-BE49-F238E27FC236}">
                <a16:creationId xmlns:a16="http://schemas.microsoft.com/office/drawing/2014/main" id="{22E8665B-C082-459F-8CBF-0ACFB684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515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1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Name the one procedure you will teach first, out loud, before we move on.</a:t>
            </a:r>
          </a:p>
        </p:txBody>
      </p:sp>
      <p:sp>
        <p:nvSpPr>
          <p:cNvPr id="172" name="Google Shape;172;p13">
            <a:extLst xmlns:a="http://schemas.openxmlformats.org/drawingml/2006/main">
              <a:ext uri="{FF2B5EF4-FFF2-40B4-BE49-F238E27FC236}">
                <a16:creationId xmlns:a16="http://schemas.microsoft.com/office/drawing/2014/main" id="{00D685AA-1A13-42E1-8CC1-81FF8076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This is the standard — held the same way, by every adult, everywhere in the building.</a:t>
            </a:r>
          </a:p>
        </p:txBody>
      </p:sp>
      <p:sp>
        <p:nvSpPr>
          <p:cNvPr id="173" name="Google Shape;173;p13">
            <a:extLst xmlns:a="http://schemas.openxmlformats.org/drawingml/2006/main">
              <a:ext uri="{FF2B5EF4-FFF2-40B4-BE49-F238E27FC236}">
                <a16:creationId xmlns:a16="http://schemas.microsoft.com/office/drawing/2014/main" id="{E3FD8095-F583-4341-A242-288B7EE5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1291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4">
            <a:extLst xmlns:a="http://schemas.openxmlformats.org/drawingml/2006/main">
              <a:ext uri="{FF2B5EF4-FFF2-40B4-BE49-F238E27FC236}">
                <a16:creationId xmlns:a16="http://schemas.microsoft.com/office/drawing/2014/main" id="{7F2C5F10-CC75-4187-A846-AAACA803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30 MINUTES</a:t>
            </a:r>
          </a:p>
        </p:txBody>
      </p:sp>
      <p:sp>
        <p:nvSpPr>
          <p:cNvPr id="180" name="Google Shape;180;p14">
            <a:extLst xmlns:a="http://schemas.openxmlformats.org/drawingml/2006/main">
              <a:ext uri="{FF2B5EF4-FFF2-40B4-BE49-F238E27FC236}">
                <a16:creationId xmlns:a16="http://schemas.microsoft.com/office/drawing/2014/main" id="{104B1843-3B8D-422E-96B4-2D491D6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109728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sz="4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Classroom Procedures</a:t>
            </a:r>
          </a:p>
        </p:txBody>
      </p:sp>
      <p:sp>
        <p:nvSpPr>
          <p:cNvPr id="181" name="Google Shape;181;p14">
            <a:extLst xmlns:a="http://schemas.openxmlformats.org/drawingml/2006/main">
              <a:ext uri="{FF2B5EF4-FFF2-40B4-BE49-F238E27FC236}">
                <a16:creationId xmlns:a16="http://schemas.microsoft.com/office/drawing/2014/main" id="{3B839C49-B746-4791-9896-69C529A6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Entering (First Five) &amp; Exiting — K–5: electives/other spaces · 6–8: class periods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Voice Levels · Materials · Morning Circle · Attention-Getter · Indoor Recess</a:t>
            </a:r>
          </a:p>
        </p:txBody>
      </p:sp>
      <p:sp>
        <p:nvSpPr>
          <p:cNvPr id="182" name="Google Shape;182;p14">
            <a:extLst xmlns:a="http://schemas.openxmlformats.org/drawingml/2006/main">
              <a:ext uri="{FF2B5EF4-FFF2-40B4-BE49-F238E27FC236}">
                <a16:creationId xmlns:a16="http://schemas.microsoft.com/office/drawing/2014/main" id="{CA9A1A02-0D85-445F-A07D-386622EA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The shape is non-negotiable. The specifics are yours to set and hold all year.</a:t>
            </a:r>
          </a:p>
        </p:txBody>
      </p:sp>
      <p:sp>
        <p:nvSpPr>
          <p:cNvPr id="183" name="Google Shape;183;p14">
            <a:extLst xmlns:a="http://schemas.openxmlformats.org/drawingml/2006/main">
              <a:ext uri="{FF2B5EF4-FFF2-40B4-BE49-F238E27FC236}">
                <a16:creationId xmlns:a16="http://schemas.microsoft.com/office/drawing/2014/main" id="{2031BF46-9A97-4916-9B10-02B1D290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69901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Google Shape;189;p15">
            <a:extLst xmlns:a="http://schemas.openxmlformats.org/drawingml/2006/main">
              <a:ext uri="{FF2B5EF4-FFF2-40B4-BE49-F238E27FC236}">
                <a16:creationId xmlns:a16="http://schemas.microsoft.com/office/drawing/2014/main" id="{7E1B44D3-30D2-40F1-BF52-0EF6699C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AGENDA AT A GLANCE</a:t>
            </a:r>
          </a:p>
        </p:txBody>
      </p:sp>
      <p:sp>
        <p:nvSpPr>
          <p:cNvPr id="190" name="Google Shape;190;p15">
            <a:extLst xmlns:a="http://schemas.openxmlformats.org/drawingml/2006/main">
              <a:ext uri="{FF2B5EF4-FFF2-40B4-BE49-F238E27FC236}">
                <a16:creationId xmlns:a16="http://schemas.microsoft.com/office/drawing/2014/main" id="{ECE7AE91-E299-41F8-982C-1FE20BFF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Classroom Procedures — 30 Minutes</a:t>
            </a:r>
          </a:p>
        </p:txBody>
      </p:sp>
      <p:sp>
        <p:nvSpPr>
          <p:cNvPr id="191" name="Google Shape;191;p15">
            <a:extLst xmlns:a="http://schemas.openxmlformats.org/drawingml/2006/main">
              <a:ext uri="{FF2B5EF4-FFF2-40B4-BE49-F238E27FC236}">
                <a16:creationId xmlns:a16="http://schemas.microsoft.com/office/drawing/2014/main" id="{F7832771-CD71-4B31-9D4F-E794C696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192" name="Google Shape;192;p15">
            <a:extLst xmlns:a="http://schemas.openxmlformats.org/drawingml/2006/main">
              <a:ext uri="{FF2B5EF4-FFF2-40B4-BE49-F238E27FC236}">
                <a16:creationId xmlns:a16="http://schemas.microsoft.com/office/drawing/2014/main" id="{D4BC3EF5-A645-4DF9-B2D4-4692EA86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15">
            <a:extLst xmlns:a="http://schemas.openxmlformats.org/drawingml/2006/main">
              <a:ext uri="{FF2B5EF4-FFF2-40B4-BE49-F238E27FC236}">
                <a16:creationId xmlns:a16="http://schemas.microsoft.com/office/drawing/2014/main" id="{7D39206F-6F92-4F71-9E6C-473B950E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3 min</a:t>
            </a:r>
          </a:p>
        </p:txBody>
      </p:sp>
      <p:sp>
        <p:nvSpPr>
          <p:cNvPr id="194" name="Google Shape;194;p15">
            <a:extLst xmlns:a="http://schemas.openxmlformats.org/drawingml/2006/main">
              <a:ext uri="{FF2B5EF4-FFF2-40B4-BE49-F238E27FC236}">
                <a16:creationId xmlns:a16="http://schemas.microsoft.com/office/drawing/2014/main" id="{90D432B9-6B38-4DD7-8419-92BE20A0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476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Framing &amp; Purpose</a:t>
            </a:r>
          </a:p>
        </p:txBody>
      </p:sp>
      <p:sp>
        <p:nvSpPr>
          <p:cNvPr id="195" name="Google Shape;195;p15">
            <a:extLst xmlns:a="http://schemas.openxmlformats.org/drawingml/2006/main">
              <a:ext uri="{FF2B5EF4-FFF2-40B4-BE49-F238E27FC236}">
                <a16:creationId xmlns:a16="http://schemas.microsoft.com/office/drawing/2014/main" id="{A7637C1A-F69E-4A4E-8685-C6B4A3DF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1236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Schoolwide vs. classroom procedures, revisited for your room</a:t>
            </a:r>
          </a:p>
        </p:txBody>
      </p:sp>
      <p:sp>
        <p:nvSpPr>
          <p:cNvPr id="196" name="Google Shape;196;p15">
            <a:extLst xmlns:a="http://schemas.openxmlformats.org/drawingml/2006/main">
              <a:ext uri="{FF2B5EF4-FFF2-40B4-BE49-F238E27FC236}">
                <a16:creationId xmlns:a16="http://schemas.microsoft.com/office/drawing/2014/main" id="{2023A180-0D07-424B-96B1-505CDE0D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15">
            <a:extLst xmlns:a="http://schemas.openxmlformats.org/drawingml/2006/main">
              <a:ext uri="{FF2B5EF4-FFF2-40B4-BE49-F238E27FC236}">
                <a16:creationId xmlns:a16="http://schemas.microsoft.com/office/drawing/2014/main" id="{CBB960C7-FFD7-41CB-9A7F-22E6CB36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3 min</a:t>
            </a:r>
          </a:p>
        </p:txBody>
      </p:sp>
      <p:sp>
        <p:nvSpPr>
          <p:cNvPr id="198" name="Google Shape;198;p15">
            <a:extLst xmlns:a="http://schemas.openxmlformats.org/drawingml/2006/main">
              <a:ext uri="{FF2B5EF4-FFF2-40B4-BE49-F238E27FC236}">
                <a16:creationId xmlns:a16="http://schemas.microsoft.com/office/drawing/2014/main" id="{A303CD01-FE4C-42FD-9AFC-3E22B49C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420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Document Anatomy</a:t>
            </a:r>
          </a:p>
        </p:txBody>
      </p:sp>
      <p:sp>
        <p:nvSpPr>
          <p:cNvPr id="199" name="Google Shape;199;p15">
            <a:extLst xmlns:a="http://schemas.openxmlformats.org/drawingml/2006/main">
              <a:ext uri="{FF2B5EF4-FFF2-40B4-BE49-F238E27FC236}">
                <a16:creationId xmlns:a16="http://schemas.microsoft.com/office/drawing/2014/main" id="{B7DFE262-B2E5-45C3-9571-FD146C14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7179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The five parts every procedure one-pager follows</a:t>
            </a:r>
          </a:p>
        </p:txBody>
      </p:sp>
      <p:sp>
        <p:nvSpPr>
          <p:cNvPr id="200" name="Google Shape;200;p15">
            <a:extLst xmlns:a="http://schemas.openxmlformats.org/drawingml/2006/main">
              <a:ext uri="{FF2B5EF4-FFF2-40B4-BE49-F238E27FC236}">
                <a16:creationId xmlns:a16="http://schemas.microsoft.com/office/drawing/2014/main" id="{0358932F-344A-4BA0-869C-7A939980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1" name="Google Shape;201;p15">
            <a:extLst xmlns:a="http://schemas.openxmlformats.org/drawingml/2006/main">
              <a:ext uri="{FF2B5EF4-FFF2-40B4-BE49-F238E27FC236}">
                <a16:creationId xmlns:a16="http://schemas.microsoft.com/office/drawing/2014/main" id="{4E2A3E10-DFE3-4840-94B0-EBAD1126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2 min</a:t>
            </a:r>
          </a:p>
        </p:txBody>
      </p:sp>
      <p:sp>
        <p:nvSpPr>
          <p:cNvPr id="202" name="Google Shape;202;p15">
            <a:extLst xmlns:a="http://schemas.openxmlformats.org/drawingml/2006/main">
              <a:ext uri="{FF2B5EF4-FFF2-40B4-BE49-F238E27FC236}">
                <a16:creationId xmlns:a16="http://schemas.microsoft.com/office/drawing/2014/main" id="{9CB5C8C3-5F72-4AD3-8C0F-069C290D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13639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Using the Sample Script</a:t>
            </a:r>
          </a:p>
        </p:txBody>
      </p:sp>
      <p:sp>
        <p:nvSpPr>
          <p:cNvPr id="203" name="Google Shape;203;p15">
            <a:extLst xmlns:a="http://schemas.openxmlformats.org/drawingml/2006/main">
              <a:ext uri="{FF2B5EF4-FFF2-40B4-BE49-F238E27FC236}">
                <a16:creationId xmlns:a16="http://schemas.microsoft.com/office/drawing/2014/main" id="{57310775-80E6-4D11-9556-21EDBEE1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1232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Two ways to use it: as-is, or as a model for your own words</a:t>
            </a:r>
          </a:p>
        </p:txBody>
      </p:sp>
      <p:sp>
        <p:nvSpPr>
          <p:cNvPr id="204" name="Google Shape;204;p15">
            <a:extLst xmlns:a="http://schemas.openxmlformats.org/drawingml/2006/main">
              <a:ext uri="{FF2B5EF4-FFF2-40B4-BE49-F238E27FC236}">
                <a16:creationId xmlns:a16="http://schemas.microsoft.com/office/drawing/2014/main" id="{70CC50F5-D6A8-4DA5-B497-0E85639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5" name="Google Shape;205;p15">
            <a:extLst xmlns:a="http://schemas.openxmlformats.org/drawingml/2006/main">
              <a:ext uri="{FF2B5EF4-FFF2-40B4-BE49-F238E27FC236}">
                <a16:creationId xmlns:a16="http://schemas.microsoft.com/office/drawing/2014/main" id="{C729CA95-5F70-4ACE-9041-987B28D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7 min</a:t>
            </a:r>
          </a:p>
        </p:txBody>
      </p:sp>
      <p:sp>
        <p:nvSpPr>
          <p:cNvPr id="206" name="Google Shape;206;p15">
            <a:extLst xmlns:a="http://schemas.openxmlformats.org/drawingml/2006/main">
              <a:ext uri="{FF2B5EF4-FFF2-40B4-BE49-F238E27FC236}">
                <a16:creationId xmlns:a16="http://schemas.microsoft.com/office/drawing/2014/main" id="{946531FB-E75F-4E76-9CF4-842CF50A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73075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&amp; Annotate</a:t>
            </a:r>
          </a:p>
        </p:txBody>
      </p:sp>
      <p:sp>
        <p:nvSpPr>
          <p:cNvPr id="207" name="Google Shape;207;p15">
            <a:extLst xmlns:a="http://schemas.openxmlformats.org/drawingml/2006/main">
              <a:ext uri="{FF2B5EF4-FFF2-40B4-BE49-F238E27FC236}">
                <a16:creationId xmlns:a16="http://schemas.microsoft.com/office/drawing/2014/main" id="{E1C16130-727B-4228-8DB3-4F4F304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0668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Silent, individual read of your own procedures</a:t>
            </a:r>
          </a:p>
        </p:txBody>
      </p:sp>
      <p:sp>
        <p:nvSpPr>
          <p:cNvPr id="208" name="Google Shape;208;p15">
            <a:extLst xmlns:a="http://schemas.openxmlformats.org/drawingml/2006/main">
              <a:ext uri="{FF2B5EF4-FFF2-40B4-BE49-F238E27FC236}">
                <a16:creationId xmlns:a16="http://schemas.microsoft.com/office/drawing/2014/main" id="{095E6256-ADA6-47E0-B701-D7F7C0C2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9" name="Google Shape;209;p15">
            <a:extLst xmlns:a="http://schemas.openxmlformats.org/drawingml/2006/main">
              <a:ext uri="{FF2B5EF4-FFF2-40B4-BE49-F238E27FC236}">
                <a16:creationId xmlns:a16="http://schemas.microsoft.com/office/drawing/2014/main" id="{3BDD836A-8FB3-49C7-A237-999A04B6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8 min</a:t>
            </a:r>
          </a:p>
        </p:txBody>
      </p:sp>
      <p:sp>
        <p:nvSpPr>
          <p:cNvPr id="210" name="Google Shape;210;p15">
            <a:extLst xmlns:a="http://schemas.openxmlformats.org/drawingml/2006/main">
              <a:ext uri="{FF2B5EF4-FFF2-40B4-BE49-F238E27FC236}">
                <a16:creationId xmlns:a16="http://schemas.microsoft.com/office/drawing/2014/main" id="{0AE48007-B777-410F-B142-68796261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2511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Personalize Your Copy</a:t>
            </a:r>
          </a:p>
        </p:txBody>
      </p:sp>
      <p:sp>
        <p:nvSpPr>
          <p:cNvPr id="211" name="Google Shape;211;p15">
            <a:extLst xmlns:a="http://schemas.openxmlformats.org/drawingml/2006/main">
              <a:ext uri="{FF2B5EF4-FFF2-40B4-BE49-F238E27FC236}">
                <a16:creationId xmlns:a16="http://schemas.microsoft.com/office/drawing/2014/main" id="{7A6BD8B5-EAB8-47F0-8459-C6542E6F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0104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Fill in “Our Room’s Specifics” and mark up a script</a:t>
            </a:r>
          </a:p>
        </p:txBody>
      </p:sp>
      <p:sp>
        <p:nvSpPr>
          <p:cNvPr id="212" name="Google Shape;212;p15">
            <a:extLst xmlns:a="http://schemas.openxmlformats.org/drawingml/2006/main">
              <a:ext uri="{FF2B5EF4-FFF2-40B4-BE49-F238E27FC236}">
                <a16:creationId xmlns:a16="http://schemas.microsoft.com/office/drawing/2014/main" id="{1C5E20F7-9161-4728-9D51-E46E701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3" name="Google Shape;213;p15">
            <a:extLst xmlns:a="http://schemas.openxmlformats.org/drawingml/2006/main">
              <a:ext uri="{FF2B5EF4-FFF2-40B4-BE49-F238E27FC236}">
                <a16:creationId xmlns:a16="http://schemas.microsoft.com/office/drawing/2014/main" id="{4DA0C572-4CEB-4148-8A62-6EBBC57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14" name="Google Shape;214;p15">
            <a:extLst xmlns:a="http://schemas.openxmlformats.org/drawingml/2006/main">
              <a:ext uri="{FF2B5EF4-FFF2-40B4-BE49-F238E27FC236}">
                <a16:creationId xmlns:a16="http://schemas.microsoft.com/office/drawing/2014/main" id="{8210080C-0BBD-45EF-B0F5-2D2DAC2A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194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Practice</a:t>
            </a:r>
          </a:p>
        </p:txBody>
      </p:sp>
      <p:sp>
        <p:nvSpPr>
          <p:cNvPr id="215" name="Google Shape;215;p15">
            <a:extLst xmlns:a="http://schemas.openxmlformats.org/drawingml/2006/main">
              <a:ext uri="{FF2B5EF4-FFF2-40B4-BE49-F238E27FC236}">
                <a16:creationId xmlns:a16="http://schemas.microsoft.com/office/drawing/2014/main" id="{B2FDE2AA-F2F0-4B2F-83DA-BF7883E2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954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Partner practice reading one script aloud</a:t>
            </a:r>
          </a:p>
        </p:txBody>
      </p:sp>
      <p:sp>
        <p:nvSpPr>
          <p:cNvPr id="216" name="Google Shape;216;p15">
            <a:extLst xmlns:a="http://schemas.openxmlformats.org/drawingml/2006/main">
              <a:ext uri="{FF2B5EF4-FFF2-40B4-BE49-F238E27FC236}">
                <a16:creationId xmlns:a16="http://schemas.microsoft.com/office/drawing/2014/main" id="{06E15155-350C-4154-98DA-6D83550B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7" name="Google Shape;217;p15">
            <a:extLst xmlns:a="http://schemas.openxmlformats.org/drawingml/2006/main">
              <a:ext uri="{FF2B5EF4-FFF2-40B4-BE49-F238E27FC236}">
                <a16:creationId xmlns:a16="http://schemas.microsoft.com/office/drawing/2014/main" id="{8C259D62-BED9-4410-B1FC-121A3C3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2 min</a:t>
            </a:r>
          </a:p>
        </p:txBody>
      </p:sp>
      <p:sp>
        <p:nvSpPr>
          <p:cNvPr id="218" name="Google Shape;218;p15">
            <a:extLst xmlns:a="http://schemas.openxmlformats.org/drawingml/2006/main">
              <a:ext uri="{FF2B5EF4-FFF2-40B4-BE49-F238E27FC236}">
                <a16:creationId xmlns:a16="http://schemas.microsoft.com/office/drawing/2014/main" id="{9F953F49-003C-4353-A520-8D9CE3BA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5138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Close &amp; Commit</a:t>
            </a:r>
          </a:p>
        </p:txBody>
      </p:sp>
      <p:sp>
        <p:nvSpPr>
          <p:cNvPr id="219" name="Google Shape;219;p15">
            <a:extLst xmlns:a="http://schemas.openxmlformats.org/drawingml/2006/main">
              <a:ext uri="{FF2B5EF4-FFF2-40B4-BE49-F238E27FC236}">
                <a16:creationId xmlns:a16="http://schemas.microsoft.com/office/drawing/2014/main" id="{FAC4AAA6-B7C2-4879-B8CA-2A69051A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6897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Name which procedure you'll teach first</a:t>
            </a:r>
          </a:p>
        </p:txBody>
      </p:sp>
    </p:spTree>
    <p:extLst>
      <p:ext uri="{BB962C8B-B14F-4D97-AF65-F5344CB8AC3E}">
        <p14:creationId xmlns:p14="http://schemas.microsoft.com/office/powerpoint/2010/main" val="770587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Google Shape;225;p16">
            <a:extLst xmlns:a="http://schemas.openxmlformats.org/drawingml/2006/main">
              <a:ext uri="{FF2B5EF4-FFF2-40B4-BE49-F238E27FC236}">
                <a16:creationId xmlns:a16="http://schemas.microsoft.com/office/drawing/2014/main" id="{4BD69678-F8F7-49C6-BD36-BE48514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FRAMING</a:t>
            </a:r>
          </a:p>
        </p:txBody>
      </p:sp>
      <p:sp>
        <p:nvSpPr>
          <p:cNvPr id="226" name="Google Shape;226;p16">
            <a:extLst xmlns:a="http://schemas.openxmlformats.org/drawingml/2006/main">
              <a:ext uri="{FF2B5EF4-FFF2-40B4-BE49-F238E27FC236}">
                <a16:creationId xmlns:a16="http://schemas.microsoft.com/office/drawing/2014/main" id="{248F8D0C-24B3-4818-9AC2-0DCC9C0D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Shared Standards vs. Classroom Specifics</a:t>
            </a:r>
          </a:p>
        </p:txBody>
      </p:sp>
      <p:sp>
        <p:nvSpPr>
          <p:cNvPr id="227" name="Google Shape;227;p16">
            <a:extLst xmlns:a="http://schemas.openxmlformats.org/drawingml/2006/main">
              <a:ext uri="{FF2B5EF4-FFF2-40B4-BE49-F238E27FC236}">
                <a16:creationId xmlns:a16="http://schemas.microsoft.com/office/drawing/2014/main" id="{E9DA9203-C843-48F6-A06B-22A27F9E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228" name="Google Shape;228;p16">
            <a:extLst xmlns:a="http://schemas.openxmlformats.org/drawingml/2006/main">
              <a:ext uri="{FF2B5EF4-FFF2-40B4-BE49-F238E27FC236}">
                <a16:creationId xmlns:a16="http://schemas.microsoft.com/office/drawing/2014/main" id="{2BD9F0B9-7102-478D-BA73-7857DD92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25780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9" name="Google Shape;229;p16">
            <a:extLst xmlns:a="http://schemas.openxmlformats.org/drawingml/2006/main">
              <a:ext uri="{FF2B5EF4-FFF2-40B4-BE49-F238E27FC236}">
                <a16:creationId xmlns:a16="http://schemas.microsoft.com/office/drawing/2014/main" id="{397C0AB0-F217-4E2B-A8C3-D2BE50FD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470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THE SHAPE (NON-NEGOTIABLE)</a:t>
            </a:r>
          </a:p>
        </p:txBody>
      </p:sp>
      <p:sp>
        <p:nvSpPr>
          <p:cNvPr id="230" name="Google Shape;230;p16">
            <a:extLst xmlns:a="http://schemas.openxmlformats.org/drawingml/2006/main">
              <a:ext uri="{FF2B5EF4-FFF2-40B4-BE49-F238E27FC236}">
                <a16:creationId xmlns:a16="http://schemas.microsoft.com/office/drawing/2014/main" id="{5B948BFE-5F93-4E5F-B167-DFDE8DF8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470916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One dependable routine, used the exact same way every time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Teacher Does / Students Do table for the core sequence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Non-Negotiables that don't flex, regardless of room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sample rollout script you can teach almost as-is</a:t>
            </a:r>
          </a:p>
        </p:txBody>
      </p:sp>
      <p:sp>
        <p:nvSpPr>
          <p:cNvPr id="231" name="Google Shape;231;p16">
            <a:extLst xmlns:a="http://schemas.openxmlformats.org/drawingml/2006/main">
              <a:ext uri="{FF2B5EF4-FFF2-40B4-BE49-F238E27FC236}">
                <a16:creationId xmlns:a16="http://schemas.microsoft.com/office/drawing/2014/main" id="{3DE9ACAF-CEA4-44DD-9A4D-FF9F614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0240"/>
            <a:ext cx="525780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2" name="Google Shape;232;p16">
            <a:extLst xmlns:a="http://schemas.openxmlformats.org/drawingml/2006/main">
              <a:ext uri="{FF2B5EF4-FFF2-40B4-BE49-F238E27FC236}">
                <a16:creationId xmlns:a16="http://schemas.microsoft.com/office/drawing/2014/main" id="{61B793DF-2732-458E-98F7-02241E27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48840"/>
            <a:ext cx="470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OUR ROOM’S SPECIFICS (YOURS TO SET)</a:t>
            </a:r>
          </a:p>
        </p:txBody>
      </p:sp>
      <p:sp>
        <p:nvSpPr>
          <p:cNvPr id="233" name="Google Shape;233;p16">
            <a:extLst xmlns:a="http://schemas.openxmlformats.org/drawingml/2006/main">
              <a:ext uri="{FF2B5EF4-FFF2-40B4-BE49-F238E27FC236}">
                <a16:creationId xmlns:a16="http://schemas.microsoft.com/office/drawing/2014/main" id="{0CFD0D8E-EBAE-425D-A74A-371D1F63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51760"/>
            <a:ext cx="470916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Which cue, which signal, which exact words your room uses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Recorded once, then held consistently for the whole year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Written directly onto your own copy of the procedure card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reason there's no single school-wide answer for these</a:t>
            </a:r>
          </a:p>
        </p:txBody>
      </p:sp>
    </p:spTree>
    <p:extLst>
      <p:ext uri="{BB962C8B-B14F-4D97-AF65-F5344CB8AC3E}">
        <p14:creationId xmlns:p14="http://schemas.microsoft.com/office/powerpoint/2010/main" val="888862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9" name="Google Shape;239;p17">
            <a:extLst xmlns:a="http://schemas.openxmlformats.org/drawingml/2006/main">
              <a:ext uri="{FF2B5EF4-FFF2-40B4-BE49-F238E27FC236}">
                <a16:creationId xmlns:a16="http://schemas.microsoft.com/office/drawing/2014/main" id="{451F3BF9-E777-4AD9-9B91-A6B65408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DOCUMENT ANATOMY</a:t>
            </a:r>
          </a:p>
        </p:txBody>
      </p:sp>
      <p:sp>
        <p:nvSpPr>
          <p:cNvPr id="240" name="Google Shape;240;p17">
            <a:extLst xmlns:a="http://schemas.openxmlformats.org/drawingml/2006/main">
              <a:ext uri="{FF2B5EF4-FFF2-40B4-BE49-F238E27FC236}">
                <a16:creationId xmlns:a16="http://schemas.microsoft.com/office/drawing/2014/main" id="{F89F009E-78DA-426F-B9FE-A13C2419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Five Parts, Every Procedure Card</a:t>
            </a:r>
          </a:p>
        </p:txBody>
      </p:sp>
      <p:sp>
        <p:nvSpPr>
          <p:cNvPr id="241" name="Google Shape;241;p17">
            <a:extLst xmlns:a="http://schemas.openxmlformats.org/drawingml/2006/main">
              <a:ext uri="{FF2B5EF4-FFF2-40B4-BE49-F238E27FC236}">
                <a16:creationId xmlns:a16="http://schemas.microsoft.com/office/drawing/2014/main" id="{D5AA66B2-6EBB-4557-83F2-A639A2FF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242" name="Google Shape;242;p17">
            <a:extLst xmlns:a="http://schemas.openxmlformats.org/drawingml/2006/main">
              <a:ext uri="{FF2B5EF4-FFF2-40B4-BE49-F238E27FC236}">
                <a16:creationId xmlns:a16="http://schemas.microsoft.com/office/drawing/2014/main" id="{67E80A6D-8820-49B8-A48A-A38631C3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Rationale — why this routine exists and what it protects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note distinguishing the non-negotiable shape from your room's specifics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Teacher Does / Students Do table, phase by phase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Non-Negotiables and Sample Teacher Language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sample rollout script: Day 1 SAY/DO, then Days 2–5 reinforcement</a:t>
            </a:r>
          </a:p>
        </p:txBody>
      </p:sp>
    </p:spTree>
    <p:extLst>
      <p:ext uri="{BB962C8B-B14F-4D97-AF65-F5344CB8AC3E}">
        <p14:creationId xmlns:p14="http://schemas.microsoft.com/office/powerpoint/2010/main" val="9080679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48;p18">
            <a:extLst xmlns:a="http://schemas.openxmlformats.org/drawingml/2006/main">
              <a:ext uri="{FF2B5EF4-FFF2-40B4-BE49-F238E27FC236}">
                <a16:creationId xmlns:a16="http://schemas.microsoft.com/office/drawing/2014/main" id="{F3389600-1C6D-4746-949D-12EBE22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SAMPLE SCRIPT: TWO WAYS TO USE IT</a:t>
            </a:r>
          </a:p>
        </p:txBody>
      </p:sp>
      <p:sp>
        <p:nvSpPr>
          <p:cNvPr id="249" name="Google Shape;249;p18">
            <a:extLst xmlns:a="http://schemas.openxmlformats.org/drawingml/2006/main">
              <a:ext uri="{FF2B5EF4-FFF2-40B4-BE49-F238E27FC236}">
                <a16:creationId xmlns:a16="http://schemas.microsoft.com/office/drawing/2014/main" id="{47944320-CD51-4166-A26D-A61B57D9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As-Is, or As a Model</a:t>
            </a:r>
          </a:p>
        </p:txBody>
      </p:sp>
      <p:sp>
        <p:nvSpPr>
          <p:cNvPr id="250" name="Google Shape;250;p18">
            <a:extLst xmlns:a="http://schemas.openxmlformats.org/drawingml/2006/main">
              <a:ext uri="{FF2B5EF4-FFF2-40B4-BE49-F238E27FC236}">
                <a16:creationId xmlns:a16="http://schemas.microsoft.com/office/drawing/2014/main" id="{8A283659-D917-4684-86B0-65A64B71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251" name="Google Shape;251;p18">
            <a:extLst xmlns:a="http://schemas.openxmlformats.org/drawingml/2006/main">
              <a:ext uri="{FF2B5EF4-FFF2-40B4-BE49-F238E27FC236}">
                <a16:creationId xmlns:a16="http://schemas.microsoft.com/office/drawing/2014/main" id="{8E85F021-DC7E-49C6-8992-63B77E0F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Option 1 — teach it almost word for word if the language already fits your voice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Option 2 — use it only as a model, and write your own version in your own words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Either way, the shape stays the same: Hook &amp; Purpose → Model → Practice Cold → Practice Full Speed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What can't change: the routine itself, once you've picked it, holds all year</a:t>
            </a:r>
          </a:p>
        </p:txBody>
      </p:sp>
    </p:spTree>
    <p:extLst>
      <p:ext uri="{BB962C8B-B14F-4D97-AF65-F5344CB8AC3E}">
        <p14:creationId xmlns:p14="http://schemas.microsoft.com/office/powerpoint/2010/main" val="17845168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7" name="Google Shape;257;p19">
            <a:extLst xmlns:a="http://schemas.openxmlformats.org/drawingml/2006/main">
              <a:ext uri="{FF2B5EF4-FFF2-40B4-BE49-F238E27FC236}">
                <a16:creationId xmlns:a16="http://schemas.microsoft.com/office/drawing/2014/main" id="{42650F5C-9035-4816-BF12-16F68D7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READ &amp; ANNOTATE (7 MIN, SILENT)</a:t>
            </a:r>
          </a:p>
        </p:txBody>
      </p:sp>
      <p:sp>
        <p:nvSpPr>
          <p:cNvPr id="258" name="Google Shape;258;p19">
            <a:extLst xmlns:a="http://schemas.openxmlformats.org/drawingml/2006/main">
              <a:ext uri="{FF2B5EF4-FFF2-40B4-BE49-F238E27FC236}">
                <a16:creationId xmlns:a16="http://schemas.microsoft.com/office/drawing/2014/main" id="{957FCC4E-D17A-4A56-AFE9-B0C46D2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Your Own Classroom Procedures</a:t>
            </a:r>
          </a:p>
        </p:txBody>
      </p:sp>
      <p:sp>
        <p:nvSpPr>
          <p:cNvPr id="259" name="Google Shape;259;p19">
            <a:extLst xmlns:a="http://schemas.openxmlformats.org/drawingml/2006/main">
              <a:ext uri="{FF2B5EF4-FFF2-40B4-BE49-F238E27FC236}">
                <a16:creationId xmlns:a16="http://schemas.microsoft.com/office/drawing/2014/main" id="{E6A2BA66-F995-4F23-9A72-B5241B8D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260" name="Google Shape;260;p19">
            <a:extLst xmlns:a="http://schemas.openxmlformats.org/drawingml/2006/main">
              <a:ext uri="{FF2B5EF4-FFF2-40B4-BE49-F238E27FC236}">
                <a16:creationId xmlns:a16="http://schemas.microsoft.com/office/drawing/2014/main" id="{23EB03E3-0F5A-4B7C-A9A3-22D46E8C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Entering (First Five) &amp; Exiting the Classroom</a:t>
            </a: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· Voice Levels · Materials Collection &amp; Distribution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Morning Circle Transition · Attention-Getter · Indoor Recess
First Five is K–8: K–5 for electives/other spaces; 6–8 across class periods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silently, individually — mark anything unclear or not yet matching your practice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Note which routines you've already established vs. which need a true reteach</a:t>
            </a:r>
          </a:p>
        </p:txBody>
      </p:sp>
    </p:spTree>
    <p:extLst>
      <p:ext uri="{BB962C8B-B14F-4D97-AF65-F5344CB8AC3E}">
        <p14:creationId xmlns:p14="http://schemas.microsoft.com/office/powerpoint/2010/main" val="2746327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Google Shape;266;p20">
            <a:extLst xmlns:a="http://schemas.openxmlformats.org/drawingml/2006/main">
              <a:ext uri="{FF2B5EF4-FFF2-40B4-BE49-F238E27FC236}">
                <a16:creationId xmlns:a16="http://schemas.microsoft.com/office/drawing/2014/main" id="{8A944381-B9B7-4F10-87C0-18DA4F9C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PERSONALIZE YOUR COPY (8 MIN)</a:t>
            </a:r>
          </a:p>
        </p:txBody>
      </p:sp>
      <p:sp>
        <p:nvSpPr>
          <p:cNvPr id="267" name="Google Shape;267;p20">
            <a:extLst xmlns:a="http://schemas.openxmlformats.org/drawingml/2006/main">
              <a:ext uri="{FF2B5EF4-FFF2-40B4-BE49-F238E27FC236}">
                <a16:creationId xmlns:a16="http://schemas.microsoft.com/office/drawing/2014/main" id="{E90FDCF5-797B-4158-B8D1-BCCC288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Fill In Our Room's Specifics</a:t>
            </a:r>
          </a:p>
        </p:txBody>
      </p:sp>
      <p:sp>
        <p:nvSpPr>
          <p:cNvPr id="268" name="Google Shape;268;p20">
            <a:extLst xmlns:a="http://schemas.openxmlformats.org/drawingml/2006/main">
              <a:ext uri="{FF2B5EF4-FFF2-40B4-BE49-F238E27FC236}">
                <a16:creationId xmlns:a16="http://schemas.microsoft.com/office/drawing/2014/main" id="{8D3A9987-2204-4F4B-9669-D066FB1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269" name="Google Shape;269;p20">
            <a:extLst xmlns:a="http://schemas.openxmlformats.org/drawingml/2006/main">
              <a:ext uri="{FF2B5EF4-FFF2-40B4-BE49-F238E27FC236}">
                <a16:creationId xmlns:a16="http://schemas.microsoft.com/office/drawing/2014/main" id="{E339E2BD-166C-4873-A22D-059AC850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Choose your cue for each routine (e.g., countdown vs. call-and-response for attention-getters)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Write it directly onto your copy — this becomes your reference all year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Mark up your sample script with your own classroom's language and examples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Work collaboratively with your grade-band team where routines overlap</a:t>
            </a:r>
          </a:p>
        </p:txBody>
      </p:sp>
    </p:spTree>
    <p:extLst>
      <p:ext uri="{BB962C8B-B14F-4D97-AF65-F5344CB8AC3E}">
        <p14:creationId xmlns:p14="http://schemas.microsoft.com/office/powerpoint/2010/main" val="15515474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5" name="Google Shape;275;p21">
            <a:extLst xmlns:a="http://schemas.openxmlformats.org/drawingml/2006/main">
              <a:ext uri="{FF2B5EF4-FFF2-40B4-BE49-F238E27FC236}">
                <a16:creationId xmlns:a16="http://schemas.microsoft.com/office/drawing/2014/main" id="{9EA2ED3D-E2C6-47EA-8676-E187696F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PRACTICE (5 MIN)</a:t>
            </a:r>
          </a:p>
        </p:txBody>
      </p:sp>
      <p:sp>
        <p:nvSpPr>
          <p:cNvPr id="276" name="Google Shape;276;p21">
            <a:extLst xmlns:a="http://schemas.openxmlformats.org/drawingml/2006/main">
              <a:ext uri="{FF2B5EF4-FFF2-40B4-BE49-F238E27FC236}">
                <a16:creationId xmlns:a16="http://schemas.microsoft.com/office/drawing/2014/main" id="{EF2BB49C-56EB-4F5B-9BE6-99915D33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Partner Practice — Read One Script Aloud</a:t>
            </a:r>
          </a:p>
        </p:txBody>
      </p:sp>
      <p:sp>
        <p:nvSpPr>
          <p:cNvPr id="277" name="Google Shape;277;p21">
            <a:extLst xmlns:a="http://schemas.openxmlformats.org/drawingml/2006/main">
              <a:ext uri="{FF2B5EF4-FFF2-40B4-BE49-F238E27FC236}">
                <a16:creationId xmlns:a16="http://schemas.microsoft.com/office/drawing/2014/main" id="{AE6CB465-E29E-4C2F-AAC0-40BF7D0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278" name="Google Shape;278;p21">
            <a:extLst xmlns:a="http://schemas.openxmlformats.org/drawingml/2006/main">
              <a:ext uri="{FF2B5EF4-FFF2-40B4-BE49-F238E27FC236}">
                <a16:creationId xmlns:a16="http://schemas.microsoft.com/office/drawing/2014/main" id="{DE18ABFD-8B43-43D2-9A39-27ED0FF2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Pair up and take turns reading one personalized script aloud, start to finish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Partner listens for calm, clear, Strong Voice language — not over-explained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Short on time? One volunteer reads theirs cold to the whole room instead</a:t>
            </a:r>
          </a:p>
        </p:txBody>
      </p:sp>
    </p:spTree>
    <p:extLst>
      <p:ext uri="{BB962C8B-B14F-4D97-AF65-F5344CB8AC3E}">
        <p14:creationId xmlns:p14="http://schemas.microsoft.com/office/powerpoint/2010/main" val="16378156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4" name="Google Shape;284;p22">
            <a:extLst xmlns:a="http://schemas.openxmlformats.org/drawingml/2006/main">
              <a:ext uri="{FF2B5EF4-FFF2-40B4-BE49-F238E27FC236}">
                <a16:creationId xmlns:a16="http://schemas.microsoft.com/office/drawing/2014/main" id="{108F3E23-E34A-4993-A295-87229B4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CLOSE &amp; COMMIT</a:t>
            </a:r>
          </a:p>
        </p:txBody>
      </p:sp>
      <p:sp>
        <p:nvSpPr>
          <p:cNvPr id="285" name="Google Shape;285;p22">
            <a:extLst xmlns:a="http://schemas.openxmlformats.org/drawingml/2006/main">
              <a:ext uri="{FF2B5EF4-FFF2-40B4-BE49-F238E27FC236}">
                <a16:creationId xmlns:a16="http://schemas.microsoft.com/office/drawing/2014/main" id="{BA25BA47-9B0C-4161-A101-D140BAB1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515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1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Name the one classroom procedure you will teach first, out loud, before we move on.</a:t>
            </a:r>
          </a:p>
        </p:txBody>
      </p:sp>
      <p:sp>
        <p:nvSpPr>
          <p:cNvPr id="286" name="Google Shape;286;p22">
            <a:extLst xmlns:a="http://schemas.openxmlformats.org/drawingml/2006/main">
              <a:ext uri="{FF2B5EF4-FFF2-40B4-BE49-F238E27FC236}">
                <a16:creationId xmlns:a16="http://schemas.microsoft.com/office/drawing/2014/main" id="{52A6777E-F1DD-4956-A572-C694D40D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Same shape. Your words. Held all year.</a:t>
            </a:r>
          </a:p>
        </p:txBody>
      </p:sp>
      <p:sp>
        <p:nvSpPr>
          <p:cNvPr id="287" name="Google Shape;287;p22">
            <a:extLst xmlns:a="http://schemas.openxmlformats.org/drawingml/2006/main">
              <a:ext uri="{FF2B5EF4-FFF2-40B4-BE49-F238E27FC236}">
                <a16:creationId xmlns:a16="http://schemas.microsoft.com/office/drawing/2014/main" id="{2FE8DF4D-00BF-4912-A15C-1A4E656F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486075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3" name="Google Shape;293;p23">
            <a:extLst xmlns:a="http://schemas.openxmlformats.org/drawingml/2006/main">
              <a:ext uri="{FF2B5EF4-FFF2-40B4-BE49-F238E27FC236}">
                <a16:creationId xmlns:a16="http://schemas.microsoft.com/office/drawing/2014/main" id="{D05953C8-4645-4F10-8EA9-9694186F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3 · 10 MINUTES</a:t>
            </a:r>
          </a:p>
        </p:txBody>
      </p:sp>
      <p:sp>
        <p:nvSpPr>
          <p:cNvPr id="294" name="Google Shape;294;p23">
            <a:extLst xmlns:a="http://schemas.openxmlformats.org/drawingml/2006/main">
              <a:ext uri="{FF2B5EF4-FFF2-40B4-BE49-F238E27FC236}">
                <a16:creationId xmlns:a16="http://schemas.microsoft.com/office/drawing/2014/main" id="{5C8893AE-4BA4-469E-80DE-5763545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109728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sz="4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Accountability AND Celebration</a:t>
            </a:r>
          </a:p>
        </p:txBody>
      </p:sp>
      <p:sp>
        <p:nvSpPr>
          <p:cNvPr id="295" name="Google Shape;295;p23">
            <a:extLst xmlns:a="http://schemas.openxmlformats.org/drawingml/2006/main">
              <a:ext uri="{FF2B5EF4-FFF2-40B4-BE49-F238E27FC236}">
                <a16:creationId xmlns:a16="http://schemas.microsoft.com/office/drawing/2014/main" id="{84E9820D-EEB3-4CC1-ADC8-01616075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Holding the standard is only half of culture. Recognizing students who meet it is the other half.</a:t>
            </a:r>
          </a:p>
        </p:txBody>
      </p:sp>
      <p:sp>
        <p:nvSpPr>
          <p:cNvPr id="296" name="Google Shape;296;p23">
            <a:extLst xmlns:a="http://schemas.openxmlformats.org/drawingml/2006/main">
              <a:ext uri="{FF2B5EF4-FFF2-40B4-BE49-F238E27FC236}">
                <a16:creationId xmlns:a16="http://schemas.microsoft.com/office/drawing/2014/main" id="{46C122D0-FC83-43B6-B28C-216E40F5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Both are coming in upcoming sessions — today is the preview.</a:t>
            </a:r>
          </a:p>
        </p:txBody>
      </p:sp>
      <p:sp>
        <p:nvSpPr>
          <p:cNvPr id="297" name="Google Shape;297;p23">
            <a:extLst xmlns:a="http://schemas.openxmlformats.org/drawingml/2006/main">
              <a:ext uri="{FF2B5EF4-FFF2-40B4-BE49-F238E27FC236}">
                <a16:creationId xmlns:a16="http://schemas.microsoft.com/office/drawing/2014/main" id="{49174001-F836-49FE-A1BE-C2E0C7E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59071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3" name="Google Shape;303;p24">
            <a:extLst xmlns:a="http://schemas.openxmlformats.org/drawingml/2006/main">
              <a:ext uri="{FF2B5EF4-FFF2-40B4-BE49-F238E27FC236}">
                <a16:creationId xmlns:a16="http://schemas.microsoft.com/office/drawing/2014/main" id="{1D9C9A8A-6EB5-4BD8-ABAF-DE22D65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REFLECTION</a:t>
            </a:r>
          </a:p>
        </p:txBody>
      </p:sp>
      <p:sp>
        <p:nvSpPr>
          <p:cNvPr id="304" name="Google Shape;304;p24">
            <a:extLst xmlns:a="http://schemas.openxmlformats.org/drawingml/2006/main">
              <a:ext uri="{FF2B5EF4-FFF2-40B4-BE49-F238E27FC236}">
                <a16:creationId xmlns:a16="http://schemas.microsoft.com/office/drawing/2014/main" id="{A669916C-FCF9-43BA-BE84-5E333DB6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515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1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What's one moment this week where you'll catch a student doing exactly what these procedures ask — and name it out loud?</a:t>
            </a:r>
          </a:p>
        </p:txBody>
      </p:sp>
      <p:sp>
        <p:nvSpPr>
          <p:cNvPr id="305" name="Google Shape;305;p24">
            <a:extLst xmlns:a="http://schemas.openxmlformats.org/drawingml/2006/main">
              <a:ext uri="{FF2B5EF4-FFF2-40B4-BE49-F238E27FC236}">
                <a16:creationId xmlns:a16="http://schemas.microsoft.com/office/drawing/2014/main" id="{5D52253E-DFC1-4D8B-A4C4-FCE61F27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Turn &amp; Talk with a partner (1–2 min) — then a few volunteers share out.</a:t>
            </a:r>
          </a:p>
        </p:txBody>
      </p:sp>
      <p:sp>
        <p:nvSpPr>
          <p:cNvPr id="306" name="Google Shape;306;p24">
            <a:extLst xmlns:a="http://schemas.openxmlformats.org/drawingml/2006/main">
              <a:ext uri="{FF2B5EF4-FFF2-40B4-BE49-F238E27FC236}">
                <a16:creationId xmlns:a16="http://schemas.microsoft.com/office/drawing/2014/main" id="{AF91BE4E-FAF6-48CE-8E0C-1CB09BD9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378661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2026-07-22T01:56:13.8610000Z</dcterms:created>
  <dcterms:modified xsi:type="dcterms:W3CDTF">2026-07-22T01:56:13.8610000Z</dcterms:modified>
</coreProperties>
</file>